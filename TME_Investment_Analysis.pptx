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Total Revenue (RMB Billions)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(RMB B)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27.7</c:v>
                </c:pt>
                <c:pt idx="1">
                  <c:v>28.4</c:v>
                </c:pt>
                <c:pt idx="2">
                  <c:v>32.9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MAU vs Paying Users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(M)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Q1'24</c:v>
                  </c:pt>
                  <c:pt idx="1">
                    <c:v>Q2'24</c:v>
                  </c:pt>
                  <c:pt idx="2">
                    <c:v>Q3'24</c:v>
                  </c:pt>
                  <c:pt idx="3">
                    <c:v>Q4'24</c:v>
                  </c:pt>
                  <c:pt idx="4">
                    <c:v>Q1'25</c:v>
                  </c:pt>
                  <c:pt idx="5">
                    <c:v>Q2'25</c:v>
                  </c:pt>
                  <c:pt idx="6">
                    <c:v>Q3'25</c:v>
                  </c:pt>
                  <c:pt idx="7">
                    <c:v>Q4'25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587</c:v>
                </c:pt>
                <c:pt idx="1">
                  <c:v>573</c:v>
                </c:pt>
                <c:pt idx="2">
                  <c:v>567</c:v>
                </c:pt>
                <c:pt idx="3">
                  <c:v>556</c:v>
                </c:pt>
                <c:pt idx="4">
                  <c:v>555</c:v>
                </c:pt>
                <c:pt idx="5">
                  <c:v>548</c:v>
                </c:pt>
                <c:pt idx="6">
                  <c:v>551</c:v>
                </c:pt>
                <c:pt idx="7">
                  <c:v>528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Paying (M)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Q1'24</c:v>
                  </c:pt>
                  <c:pt idx="1">
                    <c:v>Q2'24</c:v>
                  </c:pt>
                  <c:pt idx="2">
                    <c:v>Q3'24</c:v>
                  </c:pt>
                  <c:pt idx="3">
                    <c:v>Q4'24</c:v>
                  </c:pt>
                  <c:pt idx="4">
                    <c:v>Q1'25</c:v>
                  </c:pt>
                  <c:pt idx="5">
                    <c:v>Q2'25</c:v>
                  </c:pt>
                  <c:pt idx="6">
                    <c:v>Q3'25</c:v>
                  </c:pt>
                  <c:pt idx="7">
                    <c:v>Q4'25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113.2</c:v>
                </c:pt>
                <c:pt idx="1">
                  <c:v>117</c:v>
                </c:pt>
                <c:pt idx="2">
                  <c:v>119.2</c:v>
                </c:pt>
                <c:pt idx="3">
                  <c:v>121</c:v>
                </c:pt>
                <c:pt idx="4">
                  <c:v>122.5</c:v>
                </c:pt>
                <c:pt idx="5">
                  <c:v>124</c:v>
                </c:pt>
                <c:pt idx="6">
                  <c:v>125.7</c:v>
                </c:pt>
                <c:pt idx="7">
                  <c:v>127.4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FY2025 Revenue Composition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Subscriptions</c:v>
                </c:pt>
                <c:pt idx="1">
                  <c:v>Other Music</c:v>
                </c:pt>
                <c:pt idx="2">
                  <c:v>Social Entertainment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53.7</c:v>
                </c:pt>
                <c:pt idx="1">
                  <c:v>27.6</c:v>
                </c:pt>
                <c:pt idx="2">
                  <c:v>18.7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777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MUSIC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NYSE: TME  |  HKEX: 1698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18288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$17.9B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3474720"/>
            <a:ext cx="18288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603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603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(TTM)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3474720"/>
            <a:ext cx="18288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$5.4B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3474720"/>
            <a:ext cx="18288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836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+15.8%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Growth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Lovable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FY2025 Financial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revenue growth with expanding margins and robust profitability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37160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371600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0" y="14173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1417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11.1B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1417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+66.4% YoY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196596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96596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011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011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44.2%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2011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+190bps YoY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256032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256032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Non-IFRS Profit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2606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9.6B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0" y="26060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+25.0% YoY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0" y="315468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0" y="3154680"/>
            <a:ext cx="54864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5212080" y="3200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Reserves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75120" y="32004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38.0B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32004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$5.44 Billion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0" y="374904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0" y="3749040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5212080" y="3794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7512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$368M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0" y="3794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Payout Ratio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0" y="434340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29200" y="4343400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0"/>
          <p:cNvSpPr/>
          <p:nvPr/>
        </p:nvSpPr>
        <p:spPr>
          <a:xfrm>
            <a:off x="5212080" y="4389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(TTM)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675120" y="4389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$1.02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772400" y="43891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+67.9% YoY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Ecosystem &amp; Subscription Dynamics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200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258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Declining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26364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528M MAU, down 5% YoY. Losing ~23M users per quarter. Competitive pressure from Qishui Music.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669280" y="2331720"/>
            <a:ext cx="3200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68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364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Users Growing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6364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127.4M subscribers (+5.3% YoY). Pay rate reached 24% — still massive runway.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669280" y="3474720"/>
            <a:ext cx="3200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6118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SVIP Momentum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6364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20M+ SVIP users by year-end. Higher-tier subs drive ARPPU expansion.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Divergence: Fewer users, but more are paying — quality over quantity transition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Mix &amp; Growth Drivers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by Segment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Music Services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46320" y="1965960"/>
            <a:ext cx="27432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+22.9%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Subscriptions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2743200"/>
            <a:ext cx="192024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+16.0%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Music (ads, merch)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3520440"/>
            <a:ext cx="384048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+39.2%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Entertainment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4297680"/>
            <a:ext cx="274320" cy="2286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Catalyst: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Chou new album (late March) — last TME exclusive generated RMB 200M+. G-DRAGON tour (20 shows, 260K attendees) drove merch &amp; ticket revenue.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Strengths (Bull Case)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Balance Sheet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$5.4B cash = ~30% of market cap. Massive downside protection and buyback fuel.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Growth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+16%, Non-IFRS profit +25%, gross margin expanding to 44.2%. Operating leverage working.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61188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61188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Growth Curve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music (concerts, merch, ads) grew 39%. Now ~30% of revenue. Diversified monetization.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05156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05156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 Ecosystem Moat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WeChat/Weixin integration funnels traffic. No competitor can replicate this.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33172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33172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Assets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UMG equity + 2.5% Spotify stake (~$4-5B combined). Not reflected in operating P/E.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611880"/>
            <a:ext cx="4114800" cy="1143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361188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Shareholder Returns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 buyback + $368M dividend. ~5% potential yield at current prices.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Concerns (Bear Case)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Erosion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528M MAU, down 5% YoY. Shrinking user base is the #1 worry for investors.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Qishui Music (ByteDance)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140M MAU, ~50M DAU. Sticky Douyin traffic (80%+). Directly pressures KuGou users.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61188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61188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Disruption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music threatens licensed content premium. AI singer 'Daitouzhen' rivals tier-1 artists.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05156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05156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Slowdown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revenue growth slowed to 13.2%. Management warns of 'short-term pressure' in 2026.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33172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33172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Disclosure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stop reporting quarterly subs/MAU/ARPPU. Triggered 25% single-day stock drop.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611880"/>
            <a:ext cx="4114800" cy="1143000"/>
          </a:xfrm>
          <a:prstGeom prst="rect">
            <a:avLst/>
          </a:prstGeom>
          <a:solidFill>
            <a:srgbClr val="FEF9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361188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ADR Risk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overhang, VIE structure, regulatory uncertainty. Structural discount applies.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Assessment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 13x on 2026E profit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$19.6B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 15x (peer avg)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$23.9B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SOTP (+ Spotify + UMG)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$26-28B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+45-56%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Cash-adjusted P/E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~8-9x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Clearly Cheap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Valuation 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3474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~$10/share, investors pay ~8-9x cash-adjusted earnings for 25% profit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assets (Spotify + UMG stakes) worth $4-5B are not reflected in operating P/E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cash of $3.5B provides ~20% of market cap as downside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pricing in significant competitive deterioration + China ADR discount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11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VERDICT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Undervalued with Real Risks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is Uncertain — Patience Required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0292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46888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opportunity with catalyst-dependent timeline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Favorable risk/reward for 12-18 month horizon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staged entry (1/3 now, add on stabilization)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limited by cash + buyback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depends on subscription momentum vs Qishui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Catalysts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301752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Chou album (Mar)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38328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acceleration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74904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Ximalaya acquisition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0" y="411480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growth recovery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This is research analysis, not investment advice.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Tencent Music (TME) Investment Analysis</dc:title>
  <dc:subject>PptxGenJS Presentation</dc:subject>
  <dc:creator>Lovable Research</dc:creator>
  <cp:lastModifiedBy>Lovable Research</cp:lastModifiedBy>
  <cp:revision>1</cp:revision>
  <dcterms:created xsi:type="dcterms:W3CDTF">2026-03-21T15:41:36Z</dcterms:created>
  <dcterms:modified xsi:type="dcterms:W3CDTF">2026-03-21T15:41:36Z</dcterms:modified>
</cp:coreProperties>
</file>